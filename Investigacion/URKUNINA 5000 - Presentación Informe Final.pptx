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430"/>
                </a:solidFill>
                <a:latin typeface="Arial"/>
              </a:defRPr>
            </a:pPr>
            <a:r>
              <a:rPr lang="es-MX" sz="1300" b="0" i="0" u="none" strike="noStrike">
                <a:solidFill>
                  <a:srgbClr val="1F2430"/>
                </a:solidFill>
                <a:latin typeface="Arial"/>
              </a:rPr>
              <a:t>Incidencia por zona de riesgo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Incidencia</c:v>
                </c:pt>
              </c:strCache>
            </c:strRef>
          </c:tx>
          <c:spPr>
            <a:solidFill>
              <a:srgbClr val="2F6B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4D-4EDD-B2BD-7200EA530DD2}"/>
              </c:ext>
            </c:extLst>
          </c:dPt>
          <c:dPt>
            <c:idx val="1"/>
            <c:invertIfNegative val="0"/>
            <c:bubble3D val="0"/>
            <c:spPr>
              <a:solidFill>
                <a:srgbClr val="C98A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4D-4EDD-B2BD-7200EA530DD2}"/>
              </c:ext>
            </c:extLst>
          </c:dPt>
          <c:dPt>
            <c:idx val="2"/>
            <c:invertIfNegative val="0"/>
            <c:bubble3D val="0"/>
            <c:spPr>
              <a:solidFill>
                <a:srgbClr val="7A1F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4D-4EDD-B2BD-7200EA530D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Zona verde
(costa Pacífica)</c:v>
                </c:pt>
                <c:pt idx="1">
                  <c:v>Zona amarilla
(Pasto y aledaños)</c:v>
                </c:pt>
                <c:pt idx="2">
                  <c:v>Zona roja
(norte / suroccidente)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40</c:v>
                </c:pt>
                <c:pt idx="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4D-4EDD-B2BD-7200EA530D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430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CO" b="0" i="0" u="none" strike="noStrike">
                    <a:solidFill>
                      <a:srgbClr val="000000"/>
                    </a:solidFill>
                    <a:latin typeface="Arial"/>
                  </a:rPr>
                  <a:t>Casos por 100.000 hab.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F6B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Incidencia</c:v>
                </c:pt>
              </c:strCache>
            </c:strRef>
          </c:tx>
          <c:spPr>
            <a:solidFill>
              <a:srgbClr val="C9C9C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8ED-43D1-9CA7-8EBDB2E0E97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8ED-43D1-9CA7-8EBDB2E0E976}"/>
              </c:ext>
            </c:extLst>
          </c:dPt>
          <c:dPt>
            <c:idx val="2"/>
            <c:invertIfNegative val="0"/>
            <c:bubble3D val="0"/>
            <c:spPr>
              <a:solidFill>
                <a:srgbClr val="C98A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8ED-43D1-9CA7-8EBDB2E0E976}"/>
              </c:ext>
            </c:extLst>
          </c:dPt>
          <c:dPt>
            <c:idx val="3"/>
            <c:invertIfNegative val="0"/>
            <c:bubble3D val="0"/>
            <c:spPr>
              <a:solidFill>
                <a:srgbClr val="7A1F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8ED-43D1-9CA7-8EBDB2E0E97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5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Colombia
hombres</c:v>
                </c:pt>
                <c:pt idx="1">
                  <c:v>Colombia
mujeres</c:v>
                </c:pt>
                <c:pt idx="2">
                  <c:v>Nariño
(departamental)</c:v>
                </c:pt>
                <c:pt idx="3">
                  <c:v>Zona roja
Nariño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17.3</c:v>
                </c:pt>
                <c:pt idx="1">
                  <c:v>9.4</c:v>
                </c:pt>
                <c:pt idx="2">
                  <c:v>63.4</c:v>
                </c:pt>
                <c:pt idx="3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8ED-43D1-9CA7-8EBDB2E0E9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F2430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CO" b="0" i="0" u="none" strike="noStrike">
                    <a:solidFill>
                      <a:srgbClr val="000000"/>
                    </a:solidFill>
                    <a:latin typeface="Arial"/>
                  </a:rPr>
                  <a:t>Casos por 100.000 hab.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F6B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Muestras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Biopsias</c:v>
                </c:pt>
                <c:pt idx="1">
                  <c:v>Suero</c:v>
                </c:pt>
                <c:pt idx="2">
                  <c:v>Plasma</c:v>
                </c:pt>
                <c:pt idx="3">
                  <c:v>Buffy coat</c:v>
                </c:pt>
                <c:pt idx="4">
                  <c:v>Saliva</c:v>
                </c:pt>
                <c:pt idx="5">
                  <c:v>M. fecal</c:v>
                </c:pt>
                <c:pt idx="6">
                  <c:v>Orina</c:v>
                </c:pt>
                <c:pt idx="7">
                  <c:v>Hemascreen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5000</c:v>
                </c:pt>
                <c:pt idx="1">
                  <c:v>9700</c:v>
                </c:pt>
                <c:pt idx="2">
                  <c:v>9700</c:v>
                </c:pt>
                <c:pt idx="3">
                  <c:v>4850</c:v>
                </c:pt>
                <c:pt idx="4">
                  <c:v>485</c:v>
                </c:pt>
                <c:pt idx="5">
                  <c:v>485</c:v>
                </c:pt>
                <c:pt idx="6">
                  <c:v>485</c:v>
                </c:pt>
                <c:pt idx="7">
                  <c:v>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6F-4566-8527-B917B52043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5F6B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F2430"/>
                </a:solidFill>
                <a:latin typeface="Arial"/>
              </a:defRPr>
            </a:pPr>
            <a:r>
              <a:rPr lang="es-CO" sz="1400" b="1" i="0" u="none" strike="noStrike">
                <a:solidFill>
                  <a:srgbClr val="1F2430"/>
                </a:solidFill>
                <a:latin typeface="Arial"/>
              </a:rPr>
              <a:t>Infección por H. pylori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H. pylori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A1F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78-4B5B-A060-19256CEE3284}"/>
              </c:ext>
            </c:extLst>
          </c:dPt>
          <c:dPt>
            <c:idx val="1"/>
            <c:bubble3D val="0"/>
            <c:spPr>
              <a:solidFill>
                <a:srgbClr val="C9C9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78-4B5B-A060-19256CEE3284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78-4B5B-A060-19256CEE3284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78-4B5B-A060-19256CEE3284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Con la bacteria H. pylori</c:v>
                </c:pt>
                <c:pt idx="1">
                  <c:v>Sin la bacteria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67.400000000000006</c:v>
                </c:pt>
                <c:pt idx="1">
                  <c:v>32.6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78-4B5B-A060-19256CEE32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430"/>
              </a:solidFill>
            </a:defRPr>
          </a:pPr>
          <a:endParaRPr lang="es-CO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F2430"/>
                </a:solidFill>
                <a:latin typeface="Arial"/>
              </a:defRPr>
            </a:pPr>
            <a:r>
              <a:rPr lang="es-MX" sz="1400" b="1" i="0" u="none" strike="noStrike">
                <a:solidFill>
                  <a:srgbClr val="1F2430"/>
                </a:solidFill>
                <a:latin typeface="Arial"/>
              </a:rPr>
              <a:t>Lesión precursora de malignidad (LPM)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LPM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A0F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DD1-4B7C-8F22-24F3952AFEE3}"/>
              </c:ext>
            </c:extLst>
          </c:dPt>
          <c:dPt>
            <c:idx val="1"/>
            <c:bubble3D val="0"/>
            <c:spPr>
              <a:solidFill>
                <a:srgbClr val="C9C9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D1-4B7C-8F22-24F3952AFEE3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DD1-4B7C-8F22-24F3952AFEE3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DD1-4B7C-8F22-24F3952AFEE3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Con lesión precursora de malignidad</c:v>
                </c:pt>
                <c:pt idx="1">
                  <c:v>Sin lesión precursora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35.1</c:v>
                </c:pt>
                <c:pt idx="1">
                  <c:v>64.900000000000006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DD1-4B7C-8F22-24F3952AFE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430"/>
              </a:solidFill>
            </a:defRPr>
          </a:pPr>
          <a:endParaRPr lang="es-CO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430"/>
                </a:solidFill>
                <a:latin typeface="Arial"/>
              </a:defRPr>
            </a:pPr>
            <a:r>
              <a:rPr lang="es-CO" sz="1300" b="0" i="0" u="none" strike="noStrike">
                <a:solidFill>
                  <a:srgbClr val="1F2430"/>
                </a:solidFill>
                <a:latin typeface="Arial"/>
              </a:rPr>
              <a:t>Publicaciones por año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Publicaciones</c:v>
                </c:pt>
              </c:strCache>
            </c:strRef>
          </c:tx>
          <c:spPr>
            <a:solidFill>
              <a:srgbClr val="C98A2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1F-47C4-A99B-46DAD0876D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12700" cap="flat">
              <a:solidFill>
                <a:srgbClr val="E6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5F6B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149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URKUNINA 5000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de la prevalencia de lesiones precursoras de malignidad y efecto de la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erradicación de Helicobacter pylori como prevención primaria del cáncer gástrico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departamento de Nariño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4892040"/>
            <a:ext cx="2926080" cy="0"/>
          </a:xfrm>
          <a:prstGeom prst="line">
            <a:avLst/>
          </a:prstGeom>
          <a:noFill/>
          <a:ln w="31750">
            <a:solidFill>
              <a:srgbClr val="C98A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cierre y socialización de resultados finales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PROYECTO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URKUNINA 5000</a:t>
            </a: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proyecto de investigación en salud pública que evaluó la prevalencia de lesiones precursoras de malignidad gástrica y la efectividad de la erradicación de la infección por Helicobacter pylori, como estrategia de prevención primaria del cáncer gástrico en los 55 municipios de alto riesgo del departamento de Nariño.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</a:t>
            </a:r>
            <a:r>
              <a:rPr lang="en-US" sz="13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OCAD del Fondo de Ciencia, Tecnología e Innovación del SGR de Nariño (Acuerdo No. 57, 9 de junio de 2017).
</a:t>
            </a:r>
            <a:r>
              <a:rPr lang="en-US" sz="13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total: </a:t>
            </a:r>
            <a:r>
              <a:rPr lang="en-US" sz="13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$11.268.273.011 ($9.588.676.219 SGR + $1.679.596.792 cofinanciación).
</a:t>
            </a:r>
            <a:r>
              <a:rPr lang="en-US" sz="13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Ejecución: </a:t>
            </a:r>
            <a:r>
              <a:rPr lang="en-US" sz="13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noviembre de 2018 – abril de 2023.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6675120" cy="1234440"/>
          </a:xfrm>
          <a:prstGeom prst="roundRect">
            <a:avLst>
              <a:gd name="adj" fmla="val 5926"/>
            </a:avLst>
          </a:prstGeom>
          <a:solidFill>
            <a:srgbClr val="F4F2F0"/>
          </a:solidFill>
          <a:ln w="12700">
            <a:solidFill>
              <a:srgbClr val="E6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1208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“Urkunina” proviene del vocablo indígena que significa “montaña de fuego”, en honor al volcán Galeras.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6172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en etapa de cierre, con 100% de ejecución física (23 productos MGA) y 100% de ejecución financiera.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E0B164CF-9F90-6D86-B0E9-B340555B9BB1}"/>
              </a:ext>
            </a:extLst>
          </p:cNvPr>
          <p:cNvSpPr/>
          <p:nvPr/>
        </p:nvSpPr>
        <p:spPr>
          <a:xfrm>
            <a:off x="7680960" y="1170432"/>
            <a:ext cx="4023360" cy="4937760"/>
          </a:xfrm>
          <a:prstGeom prst="roundRect">
            <a:avLst>
              <a:gd name="adj" fmla="val 2273"/>
            </a:avLst>
          </a:prstGeom>
          <a:solidFill>
            <a:srgbClr val="7A1F2B"/>
          </a:solidFill>
          <a:ln/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DC9B765-5500-E5E7-A195-6A3B9D03EE74}"/>
              </a:ext>
            </a:extLst>
          </p:cNvPr>
          <p:cNvSpPr txBox="1"/>
          <p:nvPr/>
        </p:nvSpPr>
        <p:spPr>
          <a:xfrm>
            <a:off x="7955280" y="13533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GENERAL DE LA POBLACIÓN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BEF7A5F-C247-7880-3320-28A5798CD77D}"/>
              </a:ext>
            </a:extLst>
          </p:cNvPr>
          <p:cNvSpPr txBox="1"/>
          <p:nvPr/>
        </p:nvSpPr>
        <p:spPr>
          <a:xfrm>
            <a:off x="7955280" y="1810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0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8A21B29-FFC2-370B-F79E-6D9299B6AEA1}"/>
              </a:ext>
            </a:extLst>
          </p:cNvPr>
          <p:cNvSpPr txBox="1"/>
          <p:nvPr/>
        </p:nvSpPr>
        <p:spPr>
          <a:xfrm>
            <a:off x="7955280" y="20848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personas, entre 30 y 70 años</a:t>
            </a:r>
            <a:endParaRPr lang="en-US" sz="14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B5A26AE-2A47-534C-67FF-2E9AAC2D3A77}"/>
              </a:ext>
            </a:extLst>
          </p:cNvPr>
          <p:cNvSpPr txBox="1"/>
          <p:nvPr/>
        </p:nvSpPr>
        <p:spPr>
          <a:xfrm>
            <a:off x="7955280" y="2660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</a:t>
            </a:r>
            <a:endParaRPr lang="en-US" sz="105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9B6BE4E0-57EA-6DA2-C9A8-5B743ED13C6E}"/>
              </a:ext>
            </a:extLst>
          </p:cNvPr>
          <p:cNvSpPr txBox="1"/>
          <p:nvPr/>
        </p:nvSpPr>
        <p:spPr>
          <a:xfrm>
            <a:off x="7955280" y="293522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64,2% mujeres · 35,8% hombres</a:t>
            </a:r>
            <a:endParaRPr lang="en-US" sz="14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AC36D59B-C332-A048-0A19-3C6E72C770EC}"/>
              </a:ext>
            </a:extLst>
          </p:cNvPr>
          <p:cNvSpPr txBox="1"/>
          <p:nvPr/>
        </p:nvSpPr>
        <p:spPr>
          <a:xfrm>
            <a:off x="7955280" y="3511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PERTENENCIA ÉTNICA</a:t>
            </a:r>
            <a:endParaRPr lang="en-US" sz="105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E3E2662B-CCA7-3983-8739-44D4E005573E}"/>
              </a:ext>
            </a:extLst>
          </p:cNvPr>
          <p:cNvSpPr txBox="1"/>
          <p:nvPr/>
        </p:nvSpPr>
        <p:spPr>
          <a:xfrm>
            <a:off x="7955280" y="37856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87,6% mestiza · 9,9% indígena · 2,2% afrodescendiente</a:t>
            </a:r>
            <a:endParaRPr lang="en-US" sz="14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BC295390-559B-872B-57FB-FA62D1A265C7}"/>
              </a:ext>
            </a:extLst>
          </p:cNvPr>
          <p:cNvSpPr txBox="1"/>
          <p:nvPr/>
        </p:nvSpPr>
        <p:spPr>
          <a:xfrm>
            <a:off x="7955280" y="4361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 DE SALUD</a:t>
            </a:r>
            <a:endParaRPr lang="en-US" sz="105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AA01977D-7413-3961-ABC8-15E6E98E15A0}"/>
              </a:ext>
            </a:extLst>
          </p:cNvPr>
          <p:cNvSpPr txBox="1"/>
          <p:nvPr/>
        </p:nvSpPr>
        <p:spPr>
          <a:xfrm>
            <a:off x="7955280" y="46360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81,9% subsidiado · 17,7% contributivo</a:t>
            </a:r>
            <a:endParaRPr lang="en-US" sz="14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C53B4E56-D007-FFC9-FA20-74B3E88A2F4C}"/>
              </a:ext>
            </a:extLst>
          </p:cNvPr>
          <p:cNvSpPr/>
          <p:nvPr/>
        </p:nvSpPr>
        <p:spPr>
          <a:xfrm>
            <a:off x="7955280" y="5230368"/>
            <a:ext cx="3474720" cy="0"/>
          </a:xfrm>
          <a:prstGeom prst="line">
            <a:avLst/>
          </a:prstGeom>
          <a:noFill/>
          <a:ln w="12700">
            <a:solidFill>
              <a:srgbClr val="9A4551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14D817A6-1DD6-E3F1-11EA-4FC99A4F6D6E}"/>
              </a:ext>
            </a:extLst>
          </p:cNvPr>
          <p:cNvSpPr txBox="1"/>
          <p:nvPr/>
        </p:nvSpPr>
        <p:spPr>
          <a:xfrm>
            <a:off x="7955280" y="5358384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en etapa de cierre, con 100% de ejecución física (23 productos MGA) y 100% de ejecución financiera.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FINALES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de cierre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6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234086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INTERVENIDOS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51760"/>
            <a:ext cx="22494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/ 55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5262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cobertura departamental completa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56432" y="21945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6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234086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CAPTADOS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651760"/>
            <a:ext cx="22494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5.000 / 5.000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5262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la meta poblacional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64224" y="21945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6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65392" y="234086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FÍSICA Y FINANCIERA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651760"/>
            <a:ext cx="22494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45262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en etapa de cierre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272016" y="21945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7A1F2B"/>
          </a:solidFill>
          <a:ln w="12700">
            <a:solidFill>
              <a:srgbClr val="E6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73184" y="234086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CÁNCER DETECTADOS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473184" y="2651760"/>
            <a:ext cx="22494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473184" y="45262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tamizaje endoscópico preventivo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alcanzó el 100% de sus metas físicas y financieras, y su hallazgo </a:t>
            </a:r>
            <a:r>
              <a:rPr lang="en-US" sz="1350" i="1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3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</a:t>
            </a:r>
            <a:r>
              <a:rPr lang="en-US" sz="13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detección temprana de 8 casos de </a:t>
            </a:r>
            <a:r>
              <a:rPr lang="en-US" sz="1350" i="1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cáncer</a:t>
            </a:r>
            <a:r>
              <a:rPr lang="en-US" sz="13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gástrico</a:t>
            </a:r>
            <a:r>
              <a:rPr lang="en-US" sz="13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i="1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demostrando</a:t>
            </a:r>
            <a:r>
              <a:rPr lang="en-US" sz="13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valor concreto del tamizaje poblacional preventivo.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EPIDEMIOLÓGICO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“enigma nariñense”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Nariño concentra tres zonas con incidencias de cáncer gástrico </a:t>
            </a:r>
            <a:r>
              <a:rPr lang="en-US" sz="135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marcadamente</a:t>
            </a: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distinta</a:t>
            </a: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variaciones geográficas más estudiadas del mundo en esta enfermedad.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28016" cy="777240"/>
          </a:xfrm>
          <a:prstGeom prst="roundRect">
            <a:avLst/>
          </a:prstGeom>
          <a:solidFill>
            <a:srgbClr val="7A1F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roja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27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/ suroccidente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8346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28016" cy="777240"/>
          </a:xfrm>
          <a:prstGeom prst="roundRect">
            <a:avLst/>
          </a:prstGeom>
          <a:solidFill>
            <a:srgbClr val="C98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amarilla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 y aledaños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794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28016" cy="777240"/>
          </a:xfrm>
          <a:prstGeom prst="roundRect">
            <a:avLst/>
          </a:prstGeom>
          <a:solidFill>
            <a:srgbClr val="2F6B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verde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48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Pacífica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47548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06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por cada 100.000 habitantes</a:t>
            </a:r>
            <a:endParaRPr lang="en-US" sz="10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126480" y="155448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EPIDEMIOLÓGICO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Nariño frente a las cifras nacionales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73736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incidencia departamental de Nariño </a:t>
            </a:r>
            <a:r>
              <a:rPr lang="en-US" sz="14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cuadruplica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nacional en hombres, y la zona roja es </a:t>
            </a:r>
            <a:r>
              <a:rPr lang="en-US" sz="14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9 veces más alta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promedio nacional masculino.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89520" y="342900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F4F2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1812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OFICIAL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Nacional de Cancerología — Ministerio de Salud y Protección Social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4343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Pardo-Ramos y Cendales-Duarte, Revista Colombiana de Cancerología (2024), datos 2017–2021.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4983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7.679 casos nuevos y 5.306 muertes por cáncer gástrico estimadas al año en todo el país.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TERRITORIAL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de 55 municipios priorizados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alcanzó cobertura en la totalidad de los municipios de alto riesgo del área andina de Nariño, con jornadas de campo entre octubre de 2019 y abril de 2023: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972800" cy="3273552"/>
          </a:xfrm>
          <a:prstGeom prst="roundRect">
            <a:avLst>
              <a:gd name="adj" fmla="val 3721"/>
            </a:avLst>
          </a:prstGeom>
          <a:solidFill>
            <a:srgbClr val="8C30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19"/>
            <a:ext cx="1042416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Mallama · Gualmatán · Pupiales · Pasto · Yacuanquer · Puerres · Ricaurte · Ancuya · La Florida · Ospina · Tangua · Guachucal · San Pablo · El Peñol · Barbacoas · Arboleda · El Tambo · Potosí · Imués · Samaniego · Los Andes (Sotomayor) · La Unión · El Rosario · Iles · Linares · Chachagüí · Funes · Albán · San Lorenzo · Cuaspud Carlosama · San Pedro de Cartago · Cumbal · Nariño · Ipiales · Policarpa · Santacruz (Guachavés) · Taminango · Aldana · Contadero · Leiva · Córdoba · La Llanada · Túquerres · Cumbitara · Providencia · San Bernardo · Consacá · Belén · Colón (Génova) · Sandoná · Guaitarilla · Sapuyes · Buesaco · El Tablón de Gómez · La Cruz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TERRITORIOS PRIORITARIOS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Municipios con mayor incidencia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563876" y="53981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Consacá y San Bernardo aparecen entre los municipios con mayor prevalencia en ambos </a:t>
            </a:r>
            <a:r>
              <a:rPr lang="en-US" sz="1150" i="1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r>
              <a:rPr lang="en-US" sz="11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i="1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territorios</a:t>
            </a:r>
            <a:r>
              <a:rPr lang="en-US" sz="11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prioritarios para vigilancia reforzada.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3A0E46-A73F-522E-F2EF-BD1097DA6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30" y="1709929"/>
            <a:ext cx="5714498" cy="3114048"/>
          </a:xfrm>
          <a:prstGeom prst="rect">
            <a:avLst/>
          </a:prstGeom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E4F6FA-4D2A-5143-49B8-1F38EC51D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09929"/>
            <a:ext cx="5714499" cy="311404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DEL PROYECTO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Biobanco: la primera reserva de material biológico de Nariño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11064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25.000 muestras biológicas conservadas — la base física para la futura plataforma de datos e investigaciones posteriores.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FB36C65E-95DD-D5BD-343E-37385F2A6316}"/>
              </a:ext>
            </a:extLst>
          </p:cNvPr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PARTICIPANTE</a:t>
            </a:r>
            <a:endParaRPr lang="en-US" sz="13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A12AF3FC-2E0A-43EC-C1CD-5F46C132B6DB}"/>
              </a:ext>
            </a:extLst>
          </p:cNvPr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sociodemográfico y socioeconómico</a:t>
            </a:r>
            <a:endParaRPr lang="en-US" sz="30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0A55B50A-BC8F-8764-2F99-1EC8DEB70272}"/>
              </a:ext>
            </a:extLst>
          </p:cNvPr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73C20A64-F214-EC4E-4A63-D935FCD04A02}"/>
              </a:ext>
            </a:extLst>
          </p:cNvPr>
          <p:cNvSpPr txBox="1"/>
          <p:nvPr/>
        </p:nvSpPr>
        <p:spPr>
          <a:xfrm>
            <a:off x="749808" y="1764792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</a:t>
            </a:r>
            <a:endParaRPr lang="en-US" sz="105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26663C07-CEDC-E893-2DC1-71797AB787D2}"/>
              </a:ext>
            </a:extLst>
          </p:cNvPr>
          <p:cNvSpPr txBox="1"/>
          <p:nvPr/>
        </p:nvSpPr>
        <p:spPr>
          <a:xfrm>
            <a:off x="749808" y="2130552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64,2% mujeres · 35,8% hombres</a:t>
            </a:r>
            <a:endParaRPr lang="en-US" sz="16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50ADCFA7-CE4C-A1A3-29AC-73927342AF52}"/>
              </a:ext>
            </a:extLst>
          </p:cNvPr>
          <p:cNvSpPr txBox="1"/>
          <p:nvPr/>
        </p:nvSpPr>
        <p:spPr>
          <a:xfrm>
            <a:off x="749808" y="3063240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3.204 y 1.790 participantes, respectivamente</a:t>
            </a:r>
            <a:endParaRPr lang="en-US" sz="95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6736D6ED-8B8E-7713-F508-07EFF629F1C1}"/>
              </a:ext>
            </a:extLst>
          </p:cNvPr>
          <p:cNvSpPr/>
          <p:nvPr/>
        </p:nvSpPr>
        <p:spPr>
          <a:xfrm>
            <a:off x="434340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6AD3645A-30F1-9971-3719-460F7F5E8373}"/>
              </a:ext>
            </a:extLst>
          </p:cNvPr>
          <p:cNvSpPr txBox="1"/>
          <p:nvPr/>
        </p:nvSpPr>
        <p:spPr>
          <a:xfrm>
            <a:off x="4544568" y="1764792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PERTENENCIA ÉTNICA</a:t>
            </a:r>
            <a:endParaRPr lang="en-US" sz="105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B7B04474-4CA5-E77E-A65A-AD8947B68200}"/>
              </a:ext>
            </a:extLst>
          </p:cNvPr>
          <p:cNvSpPr txBox="1"/>
          <p:nvPr/>
        </p:nvSpPr>
        <p:spPr>
          <a:xfrm>
            <a:off x="4544568" y="2130552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87,6% mestiza · 9,9% indígena · 2,2% afrodescendiente</a:t>
            </a:r>
            <a:endParaRPr lang="en-US" sz="16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EF2BD458-8DBF-D214-FD61-B49DF31E2B23}"/>
              </a:ext>
            </a:extLst>
          </p:cNvPr>
          <p:cNvSpPr txBox="1"/>
          <p:nvPr/>
        </p:nvSpPr>
        <p:spPr>
          <a:xfrm>
            <a:off x="4544568" y="3063240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Resto: 0,3% otra / no reportada</a:t>
            </a:r>
            <a:endParaRPr lang="en-US" sz="950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8CB68FF0-9B32-62F8-7634-C17E42157B42}"/>
              </a:ext>
            </a:extLst>
          </p:cNvPr>
          <p:cNvSpPr/>
          <p:nvPr/>
        </p:nvSpPr>
        <p:spPr>
          <a:xfrm>
            <a:off x="813816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5DB00C20-CFE2-7AAE-0465-CE31992A12AC}"/>
              </a:ext>
            </a:extLst>
          </p:cNvPr>
          <p:cNvSpPr txBox="1"/>
          <p:nvPr/>
        </p:nvSpPr>
        <p:spPr>
          <a:xfrm>
            <a:off x="8339328" y="1764792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 DE SALUD</a:t>
            </a:r>
            <a:endParaRPr lang="en-US" sz="105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A9C10A15-5BE8-1A0A-D6C9-4D262A8879AA}"/>
              </a:ext>
            </a:extLst>
          </p:cNvPr>
          <p:cNvSpPr txBox="1"/>
          <p:nvPr/>
        </p:nvSpPr>
        <p:spPr>
          <a:xfrm>
            <a:off x="8339328" y="2130552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81,9% subsidiado · 17,7% contributivo</a:t>
            </a:r>
            <a:endParaRPr lang="en-US" sz="16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77E301B4-78B6-47EC-2A2F-161CF81AC0C7}"/>
              </a:ext>
            </a:extLst>
          </p:cNvPr>
          <p:cNvSpPr txBox="1"/>
          <p:nvPr/>
        </p:nvSpPr>
        <p:spPr>
          <a:xfrm>
            <a:off x="8339328" y="3063240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las condiciones de la población rural priorizada</a:t>
            </a:r>
            <a:endParaRPr lang="en-US" sz="950" dirty="0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3977078F-B1BE-659D-7ACA-F77E90C0A997}"/>
              </a:ext>
            </a:extLst>
          </p:cNvPr>
          <p:cNvSpPr/>
          <p:nvPr/>
        </p:nvSpPr>
        <p:spPr>
          <a:xfrm>
            <a:off x="548640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ABF64B5A-C4A7-181C-E607-4BCA7D701D59}"/>
              </a:ext>
            </a:extLst>
          </p:cNvPr>
          <p:cNvSpPr txBox="1"/>
          <p:nvPr/>
        </p:nvSpPr>
        <p:spPr>
          <a:xfrm>
            <a:off x="749808" y="3959352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EDUCATIVO</a:t>
            </a:r>
            <a:endParaRPr lang="en-US" sz="105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C6798EC5-76A5-BD18-FAA7-40D46EBC2121}"/>
              </a:ext>
            </a:extLst>
          </p:cNvPr>
          <p:cNvSpPr txBox="1"/>
          <p:nvPr/>
        </p:nvSpPr>
        <p:spPr>
          <a:xfrm>
            <a:off x="749808" y="4325112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56,5% primaria · 26,7% secundaria</a:t>
            </a:r>
            <a:endParaRPr lang="en-US" sz="1600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B15D22DB-259F-5A52-5522-7D586AF9E2E9}"/>
              </a:ext>
            </a:extLst>
          </p:cNvPr>
          <p:cNvSpPr txBox="1"/>
          <p:nvPr/>
        </p:nvSpPr>
        <p:spPr>
          <a:xfrm>
            <a:off x="749808" y="5257800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1,7% sin nivel formal · 15% técnico o profesional</a:t>
            </a:r>
            <a:endParaRPr lang="en-US" sz="95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EE38C880-0D09-2EB8-7C8D-D7CA17DC4097}"/>
              </a:ext>
            </a:extLst>
          </p:cNvPr>
          <p:cNvSpPr/>
          <p:nvPr/>
        </p:nvSpPr>
        <p:spPr>
          <a:xfrm>
            <a:off x="4343400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F17A516B-609B-D4E6-0BA1-6D810181CD18}"/>
              </a:ext>
            </a:extLst>
          </p:cNvPr>
          <p:cNvSpPr txBox="1"/>
          <p:nvPr/>
        </p:nvSpPr>
        <p:spPr>
          <a:xfrm>
            <a:off x="4544568" y="3959352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FAMILIARES</a:t>
            </a:r>
            <a:endParaRPr lang="en-US" sz="1050" dirty="0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B9E817DB-BE32-D459-9E8B-36EF5A6F282D}"/>
              </a:ext>
            </a:extLst>
          </p:cNvPr>
          <p:cNvSpPr txBox="1"/>
          <p:nvPr/>
        </p:nvSpPr>
        <p:spPr>
          <a:xfrm>
            <a:off x="4544568" y="4325112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53,6% entre $0–400 mil · 15,3% entre $400–600 mil</a:t>
            </a:r>
            <a:endParaRPr lang="en-US" sz="1600" dirty="0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EF47A919-EC01-B665-5EE5-2ECB6629D3A4}"/>
              </a:ext>
            </a:extLst>
          </p:cNvPr>
          <p:cNvSpPr txBox="1"/>
          <p:nvPr/>
        </p:nvSpPr>
        <p:spPr>
          <a:xfrm>
            <a:off x="4544568" y="5257800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86,2% en estrato socioeconómico 0 o 1</a:t>
            </a:r>
            <a:endParaRPr lang="en-US" sz="950" dirty="0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B24AAAF5-5227-B65E-0B68-5AE2BDFE7D6A}"/>
              </a:ext>
            </a:extLst>
          </p:cNvPr>
          <p:cNvSpPr/>
          <p:nvPr/>
        </p:nvSpPr>
        <p:spPr>
          <a:xfrm>
            <a:off x="8138160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9035CD81-B082-727F-5549-41991FCE88CB}"/>
              </a:ext>
            </a:extLst>
          </p:cNvPr>
          <p:cNvSpPr txBox="1"/>
          <p:nvPr/>
        </p:nvSpPr>
        <p:spPr>
          <a:xfrm>
            <a:off x="8339328" y="3959352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NUTRICIONAL</a:t>
            </a:r>
            <a:endParaRPr lang="en-US" sz="105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098A657D-668F-2514-5CDE-BA33A3930F9D}"/>
              </a:ext>
            </a:extLst>
          </p:cNvPr>
          <p:cNvSpPr txBox="1"/>
          <p:nvPr/>
        </p:nvSpPr>
        <p:spPr>
          <a:xfrm>
            <a:off x="8339328" y="4325112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29,6% normal · 48,2% sobrepeso · 21,8% obesidad</a:t>
            </a:r>
            <a:endParaRPr lang="en-US" sz="1600" dirty="0"/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7A8DE395-F02D-B41D-33BC-D3A3B4237BE8}"/>
              </a:ext>
            </a:extLst>
          </p:cNvPr>
          <p:cNvSpPr txBox="1"/>
          <p:nvPr/>
        </p:nvSpPr>
        <p:spPr>
          <a:xfrm>
            <a:off x="8339328" y="5257800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0,4% delgadez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TAMIZAJE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de contexto clínico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94493739"/>
              </p:ext>
            </p:extLst>
          </p:nvPr>
        </p:nvGraphicFramePr>
        <p:xfrm>
          <a:off x="548640" y="1709928"/>
          <a:ext cx="5394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3511412444"/>
              </p:ext>
            </p:extLst>
          </p:nvPr>
        </p:nvGraphicFramePr>
        <p:xfrm>
          <a:off x="6217920" y="1709928"/>
          <a:ext cx="5394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3.370 personas con la bacteria H. pylori detectada (67,4%)   ·   1.755 personas con lesión precursora de malignidad (35,1%)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CENTRAL DEL PROYECTO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cáncer gástrico detectados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794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detectados mediante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tamizaje endoscópico preventivo,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en personas asintomáticas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0" y="1600200"/>
            <a:ext cx="2514600" cy="4434840"/>
          </a:xfrm>
          <a:prstGeom prst="roundRect">
            <a:avLst>
              <a:gd name="adj" fmla="val 2909"/>
            </a:avLst>
          </a:prstGeom>
          <a:solidFill>
            <a:srgbClr val="8C30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06240" y="1828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834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con casos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38328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Belén (2), Yacuanquer, Chachagüí, Ipiales, La Unión, Barbacoas y Consacá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20840" y="1600200"/>
            <a:ext cx="2514600" cy="4434840"/>
          </a:xfrm>
          <a:prstGeom prst="roundRect">
            <a:avLst>
              <a:gd name="adj" fmla="val 2909"/>
            </a:avLst>
          </a:prstGeom>
          <a:solidFill>
            <a:srgbClr val="8C30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03720" y="1828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834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atención por su EPS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38328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Iniciaron tratamiento oportuno gracias a la detección temprana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418320" y="1600200"/>
            <a:ext cx="2514600" cy="4434840"/>
          </a:xfrm>
          <a:prstGeom prst="roundRect">
            <a:avLst>
              <a:gd name="adj" fmla="val 2909"/>
            </a:avLst>
          </a:prstGeom>
          <a:solidFill>
            <a:srgbClr val="8C30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0" y="1828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2834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Fallecieron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3383280"/>
            <a:ext cx="2148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la fecha del último informe disponible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61722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detección temprana mediante tamizaje preventivo permitió que la mayoría de los casos (5 de 8) iniciara atención médica oportuna — el argumento central para sostener y replicar este tipo de intervención.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INSTITUCIONALES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actores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4F2F0"/>
          </a:solidFill>
          <a:ln w="12700">
            <a:solidFill>
              <a:srgbClr val="E6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728216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Gobernación de Nariño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5856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de la iniciativa de plataforma de datos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4F2F0"/>
          </a:solidFill>
          <a:ln w="12700">
            <a:solidFill>
              <a:srgbClr val="E6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4568" y="180136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728216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Universitario Dept. de Nariño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5856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primaria de datos clínicos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4F2F0"/>
          </a:solidFill>
          <a:ln w="12700">
            <a:solidFill>
              <a:srgbClr val="E6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180136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0" y="1728216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Departamental de Salud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25856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 con la red pública de salud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4F2F0"/>
          </a:solidFill>
          <a:ln w="12700">
            <a:solidFill>
              <a:srgbClr val="E6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35584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3282696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CIEDYN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81304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 del biobanco y bases de datos históricas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31546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4F2F0"/>
          </a:solidFill>
          <a:ln w="12700">
            <a:solidFill>
              <a:srgbClr val="E6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4568" y="335584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00600" y="3282696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Nacional de Cancerología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81304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Aliado estratégico para escalar a nivel nacional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31546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4F2F0"/>
          </a:solidFill>
          <a:ln w="12700">
            <a:solidFill>
              <a:srgbClr val="E6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335584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5360" y="3282696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FUCS / Hospital San José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381304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de datos de patología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4F2F0"/>
          </a:solidFill>
          <a:ln w="12700">
            <a:solidFill>
              <a:srgbClr val="E6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91032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5840" y="4837176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 Sydney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3675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avanzada y datos de secuenciación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470916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4F2F0"/>
          </a:solidFill>
          <a:ln w="12700">
            <a:solidFill>
              <a:srgbClr val="E6E6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4568" y="491032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00600" y="4837176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Colombia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53675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inteligencia artificial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38160" y="470916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4F2F0"/>
          </a:solidFill>
          <a:ln w="12700">
            <a:solidFill>
              <a:srgbClr val="E6E6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9328" y="4910328"/>
            <a:ext cx="146304" cy="146304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95360" y="4837176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 University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366760" y="53675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científico internacional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HUMANO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de investigación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943DCC-83B3-A23B-D368-F27675D28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828" y="1709928"/>
            <a:ext cx="7523544" cy="41924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DEL PROYECTO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 científica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5778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224214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2450032"/>
            <a:ext cx="4297680" cy="316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oficial del proyecto — Rev. Colombiana de Cirugía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311082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3339706"/>
            <a:ext cx="4297680" cy="316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práctica clínica nacional — Rev. Colombiana de Cancerología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97950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4175538"/>
            <a:ext cx="4297680" cy="316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Cuantificación de metaplasia con deep learning — Scientific Reports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84818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5011370"/>
            <a:ext cx="4297680" cy="4982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en microbiota gástrica — J. of Gastroenterology and Hepatology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SIGUIENTES PASOS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MGA cumplidas y retos pendientes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4480560"/>
          </a:xfrm>
          <a:prstGeom prst="roundRect">
            <a:avLst>
              <a:gd name="adj" fmla="val 2222"/>
            </a:avLst>
          </a:prstGeom>
          <a:solidFill>
            <a:srgbClr val="7A1F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23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DE LA FICHA MGA</a:t>
            </a:r>
            <a:endParaRPr lang="en-US" sz="1250" dirty="0"/>
          </a:p>
          <a:p>
            <a:pPr marL="0" indent="0">
              <a:buNone/>
            </a:pPr>
            <a:r>
              <a:rPr lang="en-US" sz="1250" b="1" kern="0" spc="10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100% DE EJECUCIÓN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Distribuidos en tres objetivos específicos, la creación del biobanco, y el componente de gerencia 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interventoría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57276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Tipificación de H. pylori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9202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las cepas de la bacteria presentes en la población de Nariño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2441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41401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costo-efectivo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76148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los hallazgos en un modelo replicable de prevención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92040" y="32826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25526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pública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602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Aportar evidencia para la formulación de política departamental y nacional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4123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09651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Conversatorio de socialización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4443984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Socializar</a:t>
            </a: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la </a:t>
            </a:r>
            <a:r>
              <a:rPr lang="en-US" sz="1050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resultados finales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4965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92040" y="4965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9377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digital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5285232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un repositorio digital de resultados, muestras y </a:t>
            </a:r>
            <a:r>
              <a:rPr lang="en-US" sz="1050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propia</a:t>
            </a: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050" dirty="0" err="1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Gobernación</a:t>
            </a: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Nariño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FASE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una plataforma de datos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alianzas estratégicas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10789920" cy="236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0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URKUNINA 5000 cierra con una base sólida: cobertura territorial completa, un biobanco de más de 25.000 muestras, una red de alianzas académicas y de salud activa, y una línea de producción científica continua.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URKUNINA 5000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1390</Words>
  <Application>Microsoft Office PowerPoint</Application>
  <PresentationFormat>Widescreen</PresentationFormat>
  <Paragraphs>218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valen</cp:lastModifiedBy>
  <cp:revision>4</cp:revision>
  <dcterms:created xsi:type="dcterms:W3CDTF">2026-09-07T16:50:44Z</dcterms:created>
  <dcterms:modified xsi:type="dcterms:W3CDTF">2026-09-07T17:53:24Z</dcterms:modified>
</cp:coreProperties>
</file>